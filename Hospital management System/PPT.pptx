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317" r:id="rId2"/>
    <p:sldId id="318" r:id="rId3"/>
    <p:sldId id="320" r:id="rId4"/>
    <p:sldId id="332" r:id="rId5"/>
    <p:sldId id="335" r:id="rId6"/>
    <p:sldId id="334" r:id="rId7"/>
    <p:sldId id="337" r:id="rId8"/>
    <p:sldId id="338" r:id="rId9"/>
    <p:sldId id="339" r:id="rId10"/>
    <p:sldId id="340" r:id="rId11"/>
    <p:sldId id="343" r:id="rId12"/>
    <p:sldId id="333" r:id="rId13"/>
    <p:sldId id="341" r:id="rId14"/>
    <p:sldId id="342" r:id="rId15"/>
    <p:sldId id="33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isha004shukla@gmail.com" initials="n" lastIdx="1" clrIdx="0">
    <p:extLst>
      <p:ext uri="{19B8F6BF-5375-455C-9EA6-DF929625EA0E}">
        <p15:presenceInfo xmlns:p15="http://schemas.microsoft.com/office/powerpoint/2012/main" userId="5c3f32aa90ebd555" providerId="Windows Live"/>
      </p:ext>
    </p:extLst>
  </p:cmAuthor>
  <p:cmAuthor id="2" name="Ambika Dixit" initials="AD" lastIdx="1" clrIdx="1">
    <p:extLst>
      <p:ext uri="{19B8F6BF-5375-455C-9EA6-DF929625EA0E}">
        <p15:presenceInfo xmlns:p15="http://schemas.microsoft.com/office/powerpoint/2012/main" userId="6529d67d78c10c4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20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F7A0DB-DD38-4373-80BB-AE7589C0D4A4}" v="2" dt="2026-04-14T09:37:18.8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71" autoAdjust="0"/>
    <p:restoredTop sz="96441" autoAdjust="0"/>
  </p:normalViewPr>
  <p:slideViewPr>
    <p:cSldViewPr snapToGrid="0" snapToObjects="1">
      <p:cViewPr varScale="1">
        <p:scale>
          <a:sx n="55" d="100"/>
          <a:sy n="55" d="100"/>
        </p:scale>
        <p:origin x="1028" y="-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griti Rai" userId="1d1ad9644be83bab" providerId="LiveId" clId="{C1F4FB56-B941-4B7C-92B7-E43B683524EC}"/>
    <pc:docChg chg="delSld modSld">
      <pc:chgData name="Jagriti Rai" userId="1d1ad9644be83bab" providerId="LiveId" clId="{C1F4FB56-B941-4B7C-92B7-E43B683524EC}" dt="2026-04-14T09:38:12.840" v="47" actId="47"/>
      <pc:docMkLst>
        <pc:docMk/>
      </pc:docMkLst>
      <pc:sldChg chg="addSp modSp mod">
        <pc:chgData name="Jagriti Rai" userId="1d1ad9644be83bab" providerId="LiveId" clId="{C1F4FB56-B941-4B7C-92B7-E43B683524EC}" dt="2026-04-14T09:15:23.708" v="25" actId="1076"/>
        <pc:sldMkLst>
          <pc:docMk/>
          <pc:sldMk cId="4059215934" sldId="317"/>
        </pc:sldMkLst>
        <pc:spChg chg="mod">
          <ac:chgData name="Jagriti Rai" userId="1d1ad9644be83bab" providerId="LiveId" clId="{C1F4FB56-B941-4B7C-92B7-E43B683524EC}" dt="2026-04-14T09:14:59.359" v="8" actId="1076"/>
          <ac:spMkLst>
            <pc:docMk/>
            <pc:sldMk cId="4059215934" sldId="317"/>
            <ac:spMk id="7" creationId="{00000000-0000-0000-0000-000000000000}"/>
          </ac:spMkLst>
        </pc:spChg>
        <pc:spChg chg="add mod">
          <ac:chgData name="Jagriti Rai" userId="1d1ad9644be83bab" providerId="LiveId" clId="{C1F4FB56-B941-4B7C-92B7-E43B683524EC}" dt="2026-04-14T09:15:23.708" v="25" actId="1076"/>
          <ac:spMkLst>
            <pc:docMk/>
            <pc:sldMk cId="4059215934" sldId="317"/>
            <ac:spMk id="9" creationId="{C0891EB5-2A0B-FC57-D748-76F135B65902}"/>
          </ac:spMkLst>
        </pc:spChg>
      </pc:sldChg>
      <pc:sldChg chg="modSp mod">
        <pc:chgData name="Jagriti Rai" userId="1d1ad9644be83bab" providerId="LiveId" clId="{C1F4FB56-B941-4B7C-92B7-E43B683524EC}" dt="2026-04-14T09:36:55.911" v="31" actId="113"/>
        <pc:sldMkLst>
          <pc:docMk/>
          <pc:sldMk cId="2297637744" sldId="320"/>
        </pc:sldMkLst>
        <pc:spChg chg="mod">
          <ac:chgData name="Jagriti Rai" userId="1d1ad9644be83bab" providerId="LiveId" clId="{C1F4FB56-B941-4B7C-92B7-E43B683524EC}" dt="2026-04-14T09:36:55.911" v="31" actId="113"/>
          <ac:spMkLst>
            <pc:docMk/>
            <pc:sldMk cId="2297637744" sldId="320"/>
            <ac:spMk id="6" creationId="{00000000-0000-0000-0000-000000000000}"/>
          </ac:spMkLst>
        </pc:spChg>
      </pc:sldChg>
      <pc:sldChg chg="modSp mod">
        <pc:chgData name="Jagriti Rai" userId="1d1ad9644be83bab" providerId="LiveId" clId="{C1F4FB56-B941-4B7C-92B7-E43B683524EC}" dt="2026-04-14T09:36:42.931" v="30" actId="12"/>
        <pc:sldMkLst>
          <pc:docMk/>
          <pc:sldMk cId="1479158880" sldId="332"/>
        </pc:sldMkLst>
        <pc:spChg chg="mod">
          <ac:chgData name="Jagriti Rai" userId="1d1ad9644be83bab" providerId="LiveId" clId="{C1F4FB56-B941-4B7C-92B7-E43B683524EC}" dt="2026-04-14T09:36:42.931" v="30" actId="12"/>
          <ac:spMkLst>
            <pc:docMk/>
            <pc:sldMk cId="1479158880" sldId="332"/>
            <ac:spMk id="6" creationId="{00000000-0000-0000-0000-000000000000}"/>
          </ac:spMkLst>
        </pc:spChg>
      </pc:sldChg>
      <pc:sldChg chg="modSp mod">
        <pc:chgData name="Jagriti Rai" userId="1d1ad9644be83bab" providerId="LiveId" clId="{C1F4FB56-B941-4B7C-92B7-E43B683524EC}" dt="2026-04-14T09:38:01.865" v="46" actId="120"/>
        <pc:sldMkLst>
          <pc:docMk/>
          <pc:sldMk cId="4015385669" sldId="335"/>
        </pc:sldMkLst>
        <pc:spChg chg="mod">
          <ac:chgData name="Jagriti Rai" userId="1d1ad9644be83bab" providerId="LiveId" clId="{C1F4FB56-B941-4B7C-92B7-E43B683524EC}" dt="2026-04-14T09:38:01.865" v="46" actId="120"/>
          <ac:spMkLst>
            <pc:docMk/>
            <pc:sldMk cId="4015385669" sldId="335"/>
            <ac:spMk id="6" creationId="{00000000-0000-0000-0000-000000000000}"/>
          </ac:spMkLst>
        </pc:spChg>
      </pc:sldChg>
      <pc:sldChg chg="delSp modSp del mod">
        <pc:chgData name="Jagriti Rai" userId="1d1ad9644be83bab" providerId="LiveId" clId="{C1F4FB56-B941-4B7C-92B7-E43B683524EC}" dt="2026-04-14T09:38:12.840" v="47" actId="47"/>
        <pc:sldMkLst>
          <pc:docMk/>
          <pc:sldMk cId="3518244362" sldId="336"/>
        </pc:sldMkLst>
        <pc:spChg chg="del mod">
          <ac:chgData name="Jagriti Rai" userId="1d1ad9644be83bab" providerId="LiveId" clId="{C1F4FB56-B941-4B7C-92B7-E43B683524EC}" dt="2026-04-14T09:37:12.726" v="36"/>
          <ac:spMkLst>
            <pc:docMk/>
            <pc:sldMk cId="3518244362" sldId="336"/>
            <ac:spMk id="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47659CB-BF84-F74F-95EB-6F953048C7F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School of …………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085A3-07F8-A34F-9A0B-6F4694CDA1E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DA5B50-FE66-4811-A7C0-F2204DDD6E2E}" type="datetime1">
              <a:rPr lang="en-IN" smtClean="0"/>
              <a:pPr/>
              <a:t>14-04-2026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908EB-DD7C-3B4A-A7DF-2AF619263E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B1C41E-5188-D247-8003-4D23BEC7A96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A92BAF-94A5-4240-A2BF-E6524060C5D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061773"/>
      </p:ext>
    </p:extLst>
  </p:cSld>
  <p:clrMap bg1="lt1" tx1="dk1" bg2="lt2" tx2="dk2" accent1="accent1" accent2="accent2" accent3="accent3" accent4="accent4" accent5="accent5" accent6="accent6" hlink="hlink" folHlink="folHlink"/>
  <p:hf sldNum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School of …………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8C690E-70AB-4958-AB81-B252725AC6AD}" type="datetime1">
              <a:rPr lang="en-IN" smtClean="0"/>
              <a:pPr/>
              <a:t>14-04-2026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DEA72-A9DA-0241-B584-7E6AEC2B0F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403577"/>
      </p:ext>
    </p:extLst>
  </p:cSld>
  <p:clrMap bg1="lt1" tx1="dk1" bg2="lt2" tx2="dk2" accent1="accent1" accent2="accent2" accent3="accent3" accent4="accent4" accent5="accent5" accent6="accent6" hlink="hlink" folHlink="folHlink"/>
  <p:hf sldNum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US"/>
              <a:t>School of …………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08C690E-70AB-4958-AB81-B252725AC6AD}" type="datetime1">
              <a:rPr lang="en-IN" smtClean="0"/>
              <a:pPr/>
              <a:t>14-04-2026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5611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A51A5-507D-7240-9F56-DD7EA04A7C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527D8-0F25-C74A-A33A-50E2C4ECC7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7DB8D-2085-BA4F-BAA0-77C984454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89C56-92CE-47B2-ACB2-4F555ABA3A72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4435B-1C12-E548-9938-754F28F1C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445A2-F60F-8B4C-8CF6-5D16442B9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4549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A42D-0166-F145-BD9D-8B3F9DD65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C57CD-2153-2947-8A7E-E315EC1F1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A5E5-6204-D748-9A98-B9C434AF0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34AB2-DC36-478B-AB99-42055C145F48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A08948-513D-EE42-BC00-37C518792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9B26-AAA6-5349-A5C1-4C2138338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706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9FFC2-AB03-DB42-9BD8-B22278234E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00DE38-3033-9F47-AA4C-8B5E13B4D7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7132D-85B2-7949-AF1E-F8BE8D429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FD8A-3890-4F1F-B12B-D681F9110C31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D7402D-FCC8-324B-9252-6DB27CF53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4C1BD5-59DB-F841-84E8-7C615B4D5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57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7CB5-04AC-B145-8DFB-EB6410E6E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F8E368-D415-204B-ACAA-F2A7CF20C4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7E3FC-7CBB-1247-A715-756F7891E8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BD3D62-50EC-C044-98A5-8700F758E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206B72-FD0C-4718-AF10-7BB8D430169A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EAB96-574C-E141-B587-FE77CA3A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F35D1-150B-B64E-B84A-2048D42B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12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7533F-17AF-804A-A825-268C243B3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59667-F4B2-D34A-84DB-2D0B3B7E9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3CC843-ECAB-E845-A911-4684E763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39753F-B4DE-CE4B-B215-45927F9B7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267AF6-C258-E74A-972A-43ACAF121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AB73E8-AA99-9D44-B73A-36DAB298D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AF295-340C-4891-B250-3853F7357173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067D41-A024-DF40-9456-B595B1820A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2720FB-7B0C-3744-BA3E-16919C38C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336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3F3C-AADB-6B41-A93A-646C80736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F44714-C02E-224F-9D69-9FD099B1B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584F0-01E0-40D7-8F57-047FE452AF4F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8516B-7AA2-444C-8C23-2484FBA98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B44E81-FED1-6D4E-AA56-C90660548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812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B9069D-ACC1-2846-BB69-0C25ABE41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3A4AA-E395-466A-A7A4-6B7D85D26E0C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7E34F7-C671-004D-809D-FAA83529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B55E6A-D1AE-1B44-AE7B-9AA711C28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0504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681E-D7B2-6449-AF06-3270CDE66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A3C9-366D-3940-BC0B-0CFC92033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3DC75-2188-D14F-8B64-470BD51712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69DD6-BF4D-1F43-9CC6-5D52D2316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93B69-3894-4C77-B995-7BDB70807655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346F58-8566-B14B-9E2D-ADD0E3195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B0B562-EE07-E941-B226-A14AAE53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632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8EB8B-69D9-6A4D-9AB7-AFFFB081E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3FAE5A-CA14-1A43-91AA-DCAA4B553B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1AAA7-3BF0-344A-88DF-721AE46FD4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3809F0-5FCF-8B4E-A9EF-F54690804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EE046-EB2A-4FB4-8D5F-BBE901205507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E36D1F-45BA-FA43-9565-4D8F77952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A31EC5-CE1A-2F4E-AB06-9D0E9053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71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0795C-9FBC-E649-BC83-1E0949D05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366DD0-31C0-B144-B38B-DD81A100AB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741D1B-40DA-2741-A4B3-7EAAD6A4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0F58B1-DF52-4F70-B763-700FC8E9FEA0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DE584-0159-E747-A6DC-AA897D1E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B54D-88D0-5843-AB57-7A4A6194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495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F6ED751-46A5-E944-BFD1-641899762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849067-FF63-A545-B8AB-1D4C2EB811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A832E-7C18-E844-AD16-385329DD3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D87FA2-9D0A-48BA-8A36-22DA4A1EC439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D703F-ADE5-7446-B855-CC8642245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BBEDA4-FFEC-2D4E-8187-CE6014862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810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329BE7-407A-964A-8517-6D42CF674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E2056-654E-8345-A333-D4E1EA3412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C04D6-869A-864D-95B4-1005B9A7CC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62BA8A-BF79-426D-BD2A-1233791274C1}" type="datetime1">
              <a:rPr lang="en-US" smtClean="0"/>
              <a:pPr/>
              <a:t>4/14/2026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A2738-A23A-F74B-92DF-8746BC7CD0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72659A-8EA6-A843-9183-BBE98959F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3F5DA-0F3F-FF46-BDE9-7495294E9A0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0724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9488" y="1461564"/>
            <a:ext cx="903324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Management System</a:t>
            </a:r>
          </a:p>
          <a:p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Python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9488" y="4297590"/>
            <a:ext cx="55765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Jagriti Rai</a:t>
            </a:r>
          </a:p>
          <a:p>
            <a:r>
              <a:rPr lang="en-IN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B.Tech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-CSE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E59192-DC6B-15D2-281B-BAE944B3C17F}"/>
              </a:ext>
            </a:extLst>
          </p:cNvPr>
          <p:cNvSpPr txBox="1"/>
          <p:nvPr/>
        </p:nvSpPr>
        <p:spPr>
          <a:xfrm>
            <a:off x="5135020" y="2543264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pic>
        <p:nvPicPr>
          <p:cNvPr id="4" name="Picture 2" descr="How Hospital Management System Transform Healthcare Facility">
            <a:extLst>
              <a:ext uri="{FF2B5EF4-FFF2-40B4-BE49-F238E27FC236}">
                <a16:creationId xmlns:a16="http://schemas.microsoft.com/office/drawing/2014/main" id="{6B0AA329-BE55-BDE2-6EC4-C768795976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226" y="2915067"/>
            <a:ext cx="552450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Python (programming language) - Wikipedia">
            <a:extLst>
              <a:ext uri="{FF2B5EF4-FFF2-40B4-BE49-F238E27FC236}">
                <a16:creationId xmlns:a16="http://schemas.microsoft.com/office/drawing/2014/main" id="{8856C6C7-ACAF-3A52-A715-8318B04D9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855" y="2338727"/>
            <a:ext cx="1154329" cy="1265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0891EB5-2A0B-FC57-D748-76F135B65902}"/>
              </a:ext>
            </a:extLst>
          </p:cNvPr>
          <p:cNvSpPr txBox="1"/>
          <p:nvPr/>
        </p:nvSpPr>
        <p:spPr>
          <a:xfrm>
            <a:off x="519488" y="3844210"/>
            <a:ext cx="236058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600" b="1" dirty="0"/>
              <a:t>SUBMITTED BY-</a:t>
            </a:r>
          </a:p>
        </p:txBody>
      </p:sp>
    </p:spTree>
    <p:extLst>
      <p:ext uri="{BB962C8B-B14F-4D97-AF65-F5344CB8AC3E}">
        <p14:creationId xmlns:p14="http://schemas.microsoft.com/office/powerpoint/2010/main" val="40592159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530153" y="1120177"/>
            <a:ext cx="1179704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910" y="2871989"/>
            <a:ext cx="1207609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Purpose</a:t>
            </a:r>
          </a:p>
          <a:p>
            <a:pPr marL="914400" lvl="1" indent="-514350"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To perform automation of Hospital Management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914400" lvl="1" indent="-514350">
              <a:buFont typeface="Wingdings" pitchFamily="2" charset="2"/>
              <a:buChar char="Ø"/>
            </a:pP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914400" lvl="1" indent="-514350">
              <a:buFont typeface="Wingdings" pitchFamily="2" charset="2"/>
              <a:buChar char="Ø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The Software includes:-</a:t>
            </a:r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 marL="1314450" lvl="2" indent="-5143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Maintaining, Searching, Editing Patient Details</a:t>
            </a:r>
          </a:p>
          <a:p>
            <a:pPr marL="1314450" lvl="2" indent="-5143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Maintaining, Searching, Editing Doctor Details</a:t>
            </a:r>
          </a:p>
          <a:p>
            <a:pPr marL="1314450" lvl="2" indent="-5143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Providing Prescription</a:t>
            </a:r>
          </a:p>
          <a:p>
            <a:pPr marL="1314450" lvl="2" indent="-514350">
              <a:buFont typeface="Arial" panose="020B0604020202020204" pitchFamily="34" charset="0"/>
              <a:buChar char="•"/>
            </a:pPr>
            <a:r>
              <a:rPr lang="en-US" sz="2400" dirty="0">
                <a:latin typeface="Arial" pitchFamily="34" charset="0"/>
                <a:cs typeface="Arial" pitchFamily="34" charset="0"/>
              </a:rPr>
              <a:t>Appointment booking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2200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215342" y="1045234"/>
            <a:ext cx="6458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Description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507" y="2040246"/>
            <a:ext cx="11590986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Lack of immediate retrievals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Lack of immediate information storage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Lack of prompt updating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dirty="0"/>
              <a:t>Error prone manual calculation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IN" sz="4000" dirty="0"/>
              <a:t>Preparation of accurate and prompt reports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7637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307939" y="1102277"/>
            <a:ext cx="64586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507" y="2040246"/>
            <a:ext cx="10371351" cy="3610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marL="1028700" marR="0" lvl="1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3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Streamline patient and doctor data management.</a:t>
            </a:r>
            <a:endParaRPr lang="en-US" sz="3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marR="0" lvl="1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3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Improve the assignment of doctors to patients.</a:t>
            </a:r>
            <a:endParaRPr lang="en-US" sz="3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028700" marR="0" lvl="1" indent="-5715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sz="3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Enhance the overall efficiency of hospital administration.</a:t>
            </a:r>
            <a:endParaRPr lang="en-US" sz="32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91588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04949" y="1207470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4" y="1953607"/>
            <a:ext cx="10687051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71550" marR="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</a:endParaRP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3200" dirty="0"/>
              <a:t>To create this effective software for the managing of hospital data related to patients, doctors, and appointment management, We mostly used Python programming.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r>
              <a:rPr lang="en-IN" sz="3200" dirty="0"/>
              <a:t>We used MS Excel along with python for the smooth data manipulation according to need.</a:t>
            </a:r>
            <a:endParaRPr lang="en-US" sz="32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dirty="0"/>
              <a:t> The software runs on python console itself and uses excel for the sole purpose of storing data</a:t>
            </a:r>
          </a:p>
          <a:p>
            <a:pPr marL="514350" lvl="0" indent="-514350">
              <a:buFont typeface="Arial" panose="020B0604020202020204" pitchFamily="34" charset="0"/>
              <a:buChar char="•"/>
            </a:pP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4015385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973707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</a:p>
        </p:txBody>
      </p:sp>
      <p:sp>
        <p:nvSpPr>
          <p:cNvPr id="6" name="TextBox 5"/>
          <p:cNvSpPr txBox="1"/>
          <p:nvPr/>
        </p:nvSpPr>
        <p:spPr>
          <a:xfrm rot="16200000">
            <a:off x="4234247" y="-2615599"/>
            <a:ext cx="4119567" cy="12588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Start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[Initialize variables]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[Welcome message]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[Set up a loop for user interaction]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|--[Read patient and doctor data from Excel]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|--[Display menu for Admin or User mode]</a:t>
            </a:r>
          </a:p>
          <a:p>
            <a:r>
              <a:rPr lang="en-US" sz="1400" dirty="0"/>
              <a:t>|   |</a:t>
            </a:r>
          </a:p>
          <a:p>
            <a:r>
              <a:rPr lang="en-US" sz="1400" dirty="0"/>
              <a:t>|   |--[Admin mode]</a:t>
            </a:r>
          </a:p>
          <a:p>
            <a:r>
              <a:rPr lang="en-US" sz="1400" dirty="0"/>
              <a:t>|   |   |</a:t>
            </a:r>
          </a:p>
          <a:p>
            <a:r>
              <a:rPr lang="en-US" sz="1400" dirty="0"/>
              <a:t>|   |   |--[Authenticate with password]</a:t>
            </a:r>
          </a:p>
          <a:p>
            <a:r>
              <a:rPr lang="en-US" sz="1400" dirty="0"/>
              <a:t>|   |   |</a:t>
            </a:r>
          </a:p>
          <a:p>
            <a:r>
              <a:rPr lang="en-US" sz="1400" dirty="0"/>
              <a:t>|   |   |--[Display admin options]</a:t>
            </a:r>
          </a:p>
          <a:p>
            <a:r>
              <a:rPr lang="en-US" sz="1400" dirty="0"/>
              <a:t>|   |   |   |</a:t>
            </a:r>
          </a:p>
          <a:p>
            <a:r>
              <a:rPr lang="en-US" sz="1400" dirty="0"/>
              <a:t>|   |   |   |--[Patients Management]</a:t>
            </a:r>
          </a:p>
          <a:p>
            <a:r>
              <a:rPr lang="en-US" sz="1400" dirty="0"/>
              <a:t>|   |   |   |   |</a:t>
            </a:r>
          </a:p>
          <a:p>
            <a:r>
              <a:rPr lang="en-US" sz="1400" dirty="0"/>
              <a:t>|   |   |   |   |--[Add, Display, Delete, Edit patients]</a:t>
            </a:r>
          </a:p>
          <a:p>
            <a:r>
              <a:rPr lang="en-US" sz="1400" dirty="0"/>
              <a:t>|   |   |   |</a:t>
            </a:r>
          </a:p>
          <a:p>
            <a:r>
              <a:rPr lang="en-US" sz="1400" dirty="0"/>
              <a:t>|   |   |   |--[Doctors Management]</a:t>
            </a:r>
          </a:p>
          <a:p>
            <a:r>
              <a:rPr lang="en-US" sz="1400" dirty="0"/>
              <a:t>|   |   |   |   |</a:t>
            </a:r>
          </a:p>
          <a:p>
            <a:r>
              <a:rPr lang="en-US" sz="1400" dirty="0"/>
              <a:t>|   |   |   |   |--[Add, Display, Delete, Edit doctors]</a:t>
            </a:r>
          </a:p>
          <a:p>
            <a:r>
              <a:rPr lang="en-US" sz="1400" dirty="0"/>
              <a:t>|   |   |   |</a:t>
            </a:r>
          </a:p>
          <a:p>
            <a:r>
              <a:rPr lang="en-US" sz="1400" dirty="0"/>
              <a:t>|   |   |   |--[Appointment Management]</a:t>
            </a:r>
          </a:p>
          <a:p>
            <a:r>
              <a:rPr lang="en-US" sz="1400" dirty="0"/>
              <a:t>|   |   |       |</a:t>
            </a:r>
          </a:p>
          <a:p>
            <a:r>
              <a:rPr lang="en-US" sz="1400" dirty="0"/>
              <a:t>|   |   |       |--[Book, Edit, Cancel appointments]</a:t>
            </a:r>
          </a:p>
          <a:p>
            <a:r>
              <a:rPr lang="en-US" sz="1400" dirty="0"/>
              <a:t>|   |   |</a:t>
            </a:r>
          </a:p>
          <a:p>
            <a:r>
              <a:rPr lang="en-US" sz="1400" dirty="0"/>
              <a:t>|   |   |--[Write updated data to Excel]</a:t>
            </a:r>
          </a:p>
          <a:p>
            <a:r>
              <a:rPr lang="en-US" sz="1400" dirty="0"/>
              <a:t>|   |</a:t>
            </a:r>
          </a:p>
          <a:p>
            <a:r>
              <a:rPr lang="en-US" sz="1400" dirty="0"/>
              <a:t>|   |--[User mode]</a:t>
            </a:r>
          </a:p>
          <a:p>
            <a:r>
              <a:rPr lang="en-US" sz="1400" dirty="0"/>
              <a:t>|       |</a:t>
            </a:r>
          </a:p>
          <a:p>
            <a:r>
              <a:rPr lang="en-US" sz="1400" dirty="0"/>
              <a:t>|       |--[Display user options]</a:t>
            </a:r>
          </a:p>
          <a:p>
            <a:r>
              <a:rPr lang="en-US" sz="1400" dirty="0"/>
              <a:t>|       |   |</a:t>
            </a:r>
          </a:p>
          <a:p>
            <a:r>
              <a:rPr lang="en-US" sz="1400" dirty="0"/>
              <a:t>|       |   |--[View hospital departments, doctors, patients]</a:t>
            </a:r>
          </a:p>
          <a:p>
            <a:r>
              <a:rPr lang="en-US" sz="1400" dirty="0"/>
              <a:t>|       |   |</a:t>
            </a:r>
          </a:p>
          <a:p>
            <a:r>
              <a:rPr lang="en-US" sz="1400" dirty="0"/>
              <a:t>|       |   |--[View patient details, doctor appointments]</a:t>
            </a:r>
          </a:p>
          <a:p>
            <a:r>
              <a:rPr lang="en-US" sz="1400" dirty="0"/>
              <a:t>|       |   |</a:t>
            </a:r>
          </a:p>
          <a:p>
            <a:r>
              <a:rPr lang="en-US" sz="1400" dirty="0"/>
              <a:t>|       |   |--[Back]</a:t>
            </a:r>
          </a:p>
          <a:p>
            <a:r>
              <a:rPr lang="en-US" sz="1400" dirty="0"/>
              <a:t>|       |</a:t>
            </a:r>
          </a:p>
          <a:p>
            <a:r>
              <a:rPr lang="en-US" sz="1400" dirty="0"/>
              <a:t>|       |--[Exit user mode]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|--[Handle incorrect choices, passwords, and other conditions]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[Continue the loop or end the program]</a:t>
            </a:r>
          </a:p>
          <a:p>
            <a:r>
              <a:rPr lang="en-US" sz="1400" dirty="0"/>
              <a:t>|</a:t>
            </a:r>
          </a:p>
          <a:p>
            <a:r>
              <a:rPr lang="en-US" sz="1400" dirty="0"/>
              <a:t>v</a:t>
            </a:r>
          </a:p>
          <a:p>
            <a:r>
              <a:rPr lang="en-US" sz="1400" dirty="0"/>
              <a:t>End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726505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1054759"/>
            <a:ext cx="9444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1" y="1522720"/>
            <a:ext cx="10687051" cy="4121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6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1.    </a:t>
            </a: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Initialization: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Import necessary modules (</a:t>
            </a:r>
            <a:r>
              <a:rPr lang="en-US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Read_Hospital_Excel_Sheet</a:t>
            </a: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Write_Hospital_Excel_Sheet</a:t>
            </a: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Define the function </a:t>
            </a:r>
            <a:r>
              <a:rPr lang="en-US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AppointmentIndexInDoctorsDataBase</a:t>
            </a:r>
            <a:r>
              <a:rPr lang="en-US" b="1" kern="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(</a:t>
            </a:r>
            <a:r>
              <a:rPr lang="en-US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patient_ID</a:t>
            </a:r>
            <a:r>
              <a:rPr lang="en-US" b="1" kern="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)</a:t>
            </a: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to find the index of a patient's appointment in the doctor's database.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 startAt="2"/>
              <a:tabLst>
                <a:tab pos="457200" algn="l"/>
              </a:tabLst>
            </a:pP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Welcome Message: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Print a welcome message for the hospital management system.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3.     Read Data: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Read patient and doctor data from Excel using the functions from the imported modules.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4.     Display Menu: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Display the menu for Admin or User mode.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Get the user's mode choice (</a:t>
            </a:r>
            <a:r>
              <a:rPr lang="en-US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Admin_user_mode</a:t>
            </a:r>
            <a:r>
              <a:rPr lang="en-US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/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166165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1054759"/>
            <a:ext cx="9444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1" y="1522720"/>
            <a:ext cx="10687051" cy="53211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600" b="1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        Admin Mode: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Check if the user chose Admin mode (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if </a:t>
            </a:r>
            <a:r>
              <a:rPr lang="en-US" sz="1600" b="1" kern="0" dirty="0" err="1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Admin_user_mode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== "1"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Authenticate with a password (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Password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Enter a loop for Admin options.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.1. 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Manage Patients: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Display options for patient management.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Based on the user's choice, perform actions like adding, displaying, deleting, or editing patient data.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.2. 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Manage Doctors: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Display options for doctor management.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Based on the user's choice, perform actions like adding, displaying, deleting, or editing doctor data.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.3. 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Manage Appointments: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Display options for appointment management.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Based on the user's choice, perform actions like booking, editing, or canceling appointments.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.4. 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Write Data to Excel: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Save the updated patient and doctor data back to Excel.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.5. </a:t>
            </a:r>
            <a:r>
              <a:rPr lang="en-US" sz="1600" b="1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Exit Admin Mode: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Break out of the Admin options loop.</a:t>
            </a:r>
            <a:endParaRPr lang="en-US" sz="16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7197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1054759"/>
            <a:ext cx="94447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0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2471" y="1522720"/>
            <a:ext cx="10687051" cy="3486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sz="1600" dirty="0">
              <a:effectLst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6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   User Mode: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Check if the user chose User mode (</a:t>
            </a:r>
            <a:r>
              <a:rPr lang="en-US" sz="1600" b="1" kern="0" dirty="0" err="1">
                <a:effectLst/>
                <a:latin typeface="Ubuntu Mono" panose="020B0509030602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elif</a:t>
            </a:r>
            <a:r>
              <a:rPr lang="en-US" sz="1600" b="1" kern="0" dirty="0">
                <a:effectLst/>
                <a:latin typeface="Ubuntu Mono" panose="020B0509030602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sz="1600" b="1" kern="0" dirty="0" err="1">
                <a:effectLst/>
                <a:latin typeface="Ubuntu Mono" panose="020B0509030602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Admin_user_mode</a:t>
            </a:r>
            <a:r>
              <a:rPr lang="en-US" sz="1600" b="1" kern="0" dirty="0">
                <a:effectLst/>
                <a:latin typeface="Ubuntu Mono" panose="020B0509030602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 == "2"</a:t>
            </a: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Enter a loop for User options.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6.1. </a:t>
            </a:r>
            <a:r>
              <a:rPr lang="en-US" sz="16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View Hospital Information: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options to view hospital departments, doctors, patients, etc.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Based on the user's choice, provide relevant information.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0" dirty="0"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.2. </a:t>
            </a:r>
            <a:r>
              <a:rPr lang="en-US" sz="16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Exit User Mode: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13716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Break out of the User options loop.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6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7.    Handling Incorrect Choices: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 error messages for incorrect choices, passwords, or other conditions.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R="0" lvl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457200" algn="l"/>
              </a:tabLst>
            </a:pPr>
            <a:r>
              <a:rPr lang="en-US" sz="1600" b="1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8.    Continue or End: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914400" algn="l"/>
              </a:tabLst>
            </a:pPr>
            <a:r>
              <a:rPr lang="en-US" sz="1600" kern="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Continue the main loop for further interactions or end the program.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9518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1016659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Result(Screenshots from the program)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65940EB-DC7E-17AE-0D45-EF9A35CFFD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172" y="1818928"/>
            <a:ext cx="8829305" cy="461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29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752474" y="1016659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Result(Screenshots from the program)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F0709B-1C52-C80E-B91A-A3046DD37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5096" y="1786100"/>
            <a:ext cx="9708807" cy="457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202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04949" y="1207470"/>
            <a:ext cx="944470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computerized hospital management system: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078" y="2398839"/>
            <a:ext cx="98999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Immediate Access of data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Time saving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 Data can be easily insert/update/delete 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 Saving paper work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 Give facility of different types of Enquiry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6917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04949" y="1207470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this project: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207" y="1867418"/>
            <a:ext cx="9899973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514350" indent="-514350">
              <a:buAutoNum type="arabicPeriod"/>
            </a:pPr>
            <a:r>
              <a:rPr lang="en-US" sz="3200" dirty="0"/>
              <a:t>Can be used in any Hospital, Clinic, Dispensary or Pathology labs for maintaining patient details and their test results.</a:t>
            </a:r>
          </a:p>
          <a:p>
            <a:pPr marL="514350" indent="-514350">
              <a:buAutoNum type="arabicPeriod"/>
            </a:pPr>
            <a:endParaRPr lang="en-IN" sz="3200" b="1" dirty="0"/>
          </a:p>
          <a:p>
            <a:endParaRPr lang="en-US" sz="3200" dirty="0"/>
          </a:p>
        </p:txBody>
      </p:sp>
      <p:pic>
        <p:nvPicPr>
          <p:cNvPr id="2050" name="Picture 2" descr="Hospital Management Software &amp; Hospital Management Information Software in  2023: A Complete Guide">
            <a:extLst>
              <a:ext uri="{FF2B5EF4-FFF2-40B4-BE49-F238E27FC236}">
                <a16:creationId xmlns:a16="http://schemas.microsoft.com/office/drawing/2014/main" id="{DBF1F3C9-DEDC-6B42-FC80-494D2B8A60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3816" y="3210315"/>
            <a:ext cx="5469521" cy="2958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20938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504949" y="1207470"/>
            <a:ext cx="944470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7078" y="1976911"/>
            <a:ext cx="9899973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marR="0">
              <a:spcBef>
                <a:spcPts val="0"/>
              </a:spcBef>
              <a:spcAft>
                <a:spcPts val="0"/>
              </a:spcAft>
            </a:pPr>
            <a:endParaRPr lang="en-US" dirty="0">
              <a:effectLst/>
            </a:endParaRP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In this ppt, we discussed that manual handling of hospital data is very inefficient because it takes up too much time and the chances for errors are huge.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en-IN" sz="3200" b="1" dirty="0"/>
              <a:t>To deal with this specific problem we designed a simple python software that makes this work a lot easier with minimal efforts.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22255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19ED99B-DBC5-4426-BBC6-8BBB2E2998D2}"/>
              </a:ext>
            </a:extLst>
          </p:cNvPr>
          <p:cNvSpPr txBox="1">
            <a:spLocks noChangeArrowheads="1"/>
          </p:cNvSpPr>
          <p:nvPr/>
        </p:nvSpPr>
        <p:spPr>
          <a:xfrm>
            <a:off x="1504949" y="-16453"/>
            <a:ext cx="10687051" cy="103311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 algn="ctr" fontAlgn="base"/>
            <a:r>
              <a:rPr lang="en-IN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 of the School: School of Computer Science and Engineering </a:t>
            </a:r>
          </a:p>
          <a:p>
            <a:pPr fontAlgn="base"/>
            <a:r>
              <a:rPr lang="en-IN" sz="4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Code: E2UC102C  Course Name: PROGRAMMING FOR PROBLEM-SOLVING</a:t>
            </a:r>
            <a:endParaRPr lang="en-US" sz="20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311BE22-15C4-49E9-92D6-1535F166D04E}"/>
              </a:ext>
            </a:extLst>
          </p:cNvPr>
          <p:cNvSpPr txBox="1">
            <a:spLocks noChangeArrowheads="1"/>
          </p:cNvSpPr>
          <p:nvPr/>
        </p:nvSpPr>
        <p:spPr>
          <a:xfrm>
            <a:off x="-1" y="6436129"/>
            <a:ext cx="12191997" cy="401782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kumimoji="0" lang="en-IN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Programe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Name: </a:t>
            </a:r>
            <a:r>
              <a:rPr kumimoji="0" lang="en-IN" altLang="zh-CN" sz="2400" b="1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B.Tech</a:t>
            </a:r>
            <a:r>
              <a:rPr kumimoji="0" lang="en-IN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nos"/>
                <a:ea typeface="+mj-ea"/>
                <a:cs typeface="+mj-cs"/>
              </a:rPr>
              <a:t> (CSE)              					     		</a:t>
            </a:r>
            <a:endParaRPr lang="zh-CN" altLang="en-US" sz="2400" b="1" dirty="0">
              <a:solidFill>
                <a:schemeClr val="bg1"/>
              </a:solidFill>
              <a:latin typeface="Tinos"/>
            </a:endParaRPr>
          </a:p>
          <a:p>
            <a:pPr lvl="0">
              <a:lnSpc>
                <a:spcPct val="90000"/>
              </a:lnSpc>
              <a:spcBef>
                <a:spcPct val="0"/>
              </a:spcBef>
              <a:defRPr/>
            </a:pPr>
            <a:endParaRPr kumimoji="0" lang="en-IN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nos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7D3D7F-37FF-43C2-AB10-6A15E1541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647"/>
            <a:ext cx="1504949" cy="1023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4FD589-F558-E8BA-FCCA-FCE4D8400AC5}"/>
              </a:ext>
            </a:extLst>
          </p:cNvPr>
          <p:cNvSpPr/>
          <p:nvPr/>
        </p:nvSpPr>
        <p:spPr>
          <a:xfrm>
            <a:off x="2421178" y="2828835"/>
            <a:ext cx="709321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7200" b="1" dirty="0">
                <a:ln w="12700">
                  <a:solidFill>
                    <a:schemeClr val="accent1"/>
                  </a:solidFill>
                  <a:prstDash val="solid"/>
                </a:ln>
                <a:pattFill prst="pct50">
                  <a:fgClr>
                    <a:schemeClr val="accent1"/>
                  </a:fgClr>
                  <a:bgClr>
                    <a:schemeClr val="accent1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accent1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 </a:t>
            </a:r>
            <a:endParaRPr lang="en-US" sz="7200" b="1" dirty="0">
              <a:ln w="12700">
                <a:solidFill>
                  <a:schemeClr val="accent1"/>
                </a:solidFill>
                <a:prstDash val="solid"/>
              </a:ln>
              <a:pattFill prst="pct50">
                <a:fgClr>
                  <a:schemeClr val="accent1"/>
                </a:fgClr>
                <a:bgClr>
                  <a:schemeClr val="accent1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93310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{0AF5710B-C9BE-D049-99F6-EA598E797940}tf10001119</Template>
  <TotalTime>6066</TotalTime>
  <Words>1507</Words>
  <Application>Microsoft Office PowerPoint</Application>
  <PresentationFormat>Widescreen</PresentationFormat>
  <Paragraphs>195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Calibri Light</vt:lpstr>
      <vt:lpstr>Segoe UI</vt:lpstr>
      <vt:lpstr>Symbol</vt:lpstr>
      <vt:lpstr>Times New Roman</vt:lpstr>
      <vt:lpstr>Tinos</vt:lpstr>
      <vt:lpstr>Ubuntu Mono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 Anil Taneja</dc:creator>
  <cp:lastModifiedBy>Jagriti Rai</cp:lastModifiedBy>
  <cp:revision>310</cp:revision>
  <dcterms:created xsi:type="dcterms:W3CDTF">2020-05-05T09:43:45Z</dcterms:created>
  <dcterms:modified xsi:type="dcterms:W3CDTF">2026-04-14T09:38:15Z</dcterms:modified>
</cp:coreProperties>
</file>